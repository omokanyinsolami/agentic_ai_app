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conflict %</c:v>
                </c:pt>
              </c:strCache>
            </c:strRef>
          </c:tx>
          <c:spPr>
            <a:solidFill>
              <a:srgbClr val="303F9F"/>
            </a:solidFill>
          </c:spP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34.0</c:v>
                </c:pt>
                <c:pt idx="1">
                  <c:v>56.25</c:v>
                </c:pt>
                <c:pt idx="2">
                  <c:v>30.0</c:v>
                </c:pt>
                <c:pt idx="3">
                  <c:v>87.5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Agent conflict %</c:v>
                </c:pt>
              </c:strCache>
            </c:strRef>
          </c:tx>
          <c:spPr>
            <a:solidFill>
              <a:srgbClr val="158078"/>
            </a:solidFill>
          </c:spP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D</c:v>
                </c:pt>
                <c:pt idx="3">
                  <c:v>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31.0</c:v>
                </c:pt>
                <c:pt idx="1">
                  <c:v>55.0</c:v>
                </c:pt>
                <c:pt idx="2">
                  <c:v>28.18181818181818</c:v>
                </c:pt>
                <c:pt idx="3">
                  <c:v>87.5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640080"/>
            <a:ext cx="4114800" cy="4114800"/>
          </a:xfrm>
          <a:prstGeom prst="ellipse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4754880"/>
            <a:ext cx="3108960" cy="3108960"/>
          </a:xfrm>
          <a:prstGeom prst="ellipse">
            <a:avLst/>
          </a:prstGeom>
          <a:solidFill>
            <a:srgbClr val="15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2468880" cy="347472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58078"/>
                </a:solidFill>
                <a:latin typeface="Century Gothic"/>
              </a:defRPr>
            </a:pPr>
            <a:r>
              <a:t>MSC DISSERTATION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29844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entury Gothic"/>
              </a:defRPr>
            </a:pPr>
            <a:r>
              <a:t>Agentic AI for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993392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E0E7FF"/>
                </a:solidFill>
                <a:latin typeface="Century Gothic"/>
              </a:defRPr>
            </a:pPr>
            <a:r>
              <a:t>Design, implementation and evaluation of a learner-support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4320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entury Gothic"/>
              </a:defRPr>
            </a:pPr>
            <a:r>
              <a:t>• A working prototype that supports task capture, AI scheduling, replanning, reminders, and natural-language interaction.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entury Gothic"/>
              </a:defRPr>
            </a:pPr>
            <a:r>
              <a:t>• Evaluation framed around stable scheduling, dynamic change, and severe workload saturation rather than inflated claims.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entury Gothic"/>
              </a:defRPr>
            </a:pPr>
            <a:r>
              <a:t>• Presentation refreshed with interface visuals and a more dissertation-appropriate narrative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5266944"/>
            <a:ext cx="2103120" cy="7315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5212080"/>
            <a:ext cx="210312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" y="5376672"/>
            <a:ext cx="91440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5358384"/>
            <a:ext cx="168249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5705856"/>
            <a:ext cx="16459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entury Gothic"/>
              </a:defRPr>
            </a:pPr>
            <a:r>
              <a:t>React PWA, Flask, PostgreSQL, LangGraph, Supabase, Brevo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36391" y="5266944"/>
            <a:ext cx="2103120" cy="7315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90672" y="5212080"/>
            <a:ext cx="210312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36976" y="5376672"/>
            <a:ext cx="91440" cy="402336"/>
          </a:xfrm>
          <a:prstGeom prst="rect">
            <a:avLst/>
          </a:prstGeom>
          <a:solidFill>
            <a:srgbClr val="15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5358384"/>
            <a:ext cx="168249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5705856"/>
            <a:ext cx="1645919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entury Gothic"/>
              </a:defRPr>
            </a:pPr>
            <a:r>
              <a:t>Active learner support is demonstrated, but optimisation limits remain visible.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8816" y="1078992"/>
            <a:ext cx="4846320" cy="2713939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u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005840"/>
            <a:ext cx="4846320" cy="272605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461504" y="3867912"/>
            <a:ext cx="3794760" cy="2125065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i_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794760"/>
            <a:ext cx="3794760" cy="213455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198864" y="3090672"/>
            <a:ext cx="2057400" cy="1152144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ui_assist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017520"/>
            <a:ext cx="2057400" cy="11572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entury Gothic"/>
              </a:defRPr>
            </a:pPr>
            <a:r>
              <a:t>Agentic AI for Education  |  MSc Dissertation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223E"/>
                </a:solidFill>
                <a:latin typeface="Century Gothic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377440" cy="237744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8078"/>
                </a:solidFill>
                <a:latin typeface="Century Gothic"/>
              </a:defRPr>
            </a:pPr>
            <a:r>
              <a:t>RESEARCH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entury Gothic"/>
              </a:defRPr>
            </a:pPr>
            <a:r>
              <a:t>Problem, aim and research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2412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entury Gothic"/>
              </a:defRPr>
            </a:pPr>
            <a:r>
              <a:t>Why passive study tools are not enough for a dissertation-level systems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572768"/>
            <a:ext cx="55778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entury Gothic"/>
              </a:defRPr>
            </a:pPr>
            <a:r>
              <a:t>• Most academic productivity tools record tasks, but they do not actively schedule work, replan after disruption, or sustain follow-through.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entury Gothic"/>
              </a:defRPr>
            </a:pPr>
            <a:r>
              <a:t>• This project asks whether an agentic learner-support system can deliver dependable scheduling, adaptation, explanation, and proactive reminders.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entury Gothic"/>
              </a:defRPr>
            </a:pPr>
            <a:r>
              <a:t>• The dissertation contribution is the system as a whole: frontend, backend, orchestration logic, evaluation framework, and hosted reminder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2552" y="1591056"/>
            <a:ext cx="4754880" cy="1152144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56832" y="1536192"/>
            <a:ext cx="4754880" cy="115214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03136" y="1700784"/>
            <a:ext cx="91440" cy="822960"/>
          </a:xfrm>
          <a:prstGeom prst="rect">
            <a:avLst/>
          </a:prstGeom>
          <a:solidFill>
            <a:srgbClr val="15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682495"/>
            <a:ext cx="4334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entury Gothic"/>
              </a:defRPr>
            </a:pPr>
            <a:r>
              <a:t>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029967"/>
            <a:ext cx="4297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Century Gothic"/>
              </a:defRPr>
            </a:pPr>
            <a:r>
              <a:t>Design and evaluate a learner-support system that does more than store deadlines: it should actively plan, adapt, and remind.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02552" y="2907792"/>
            <a:ext cx="4754880" cy="138988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56832" y="2852928"/>
            <a:ext cx="4754880" cy="13898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03136" y="3017520"/>
            <a:ext cx="91440" cy="106070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2999232"/>
            <a:ext cx="4334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entury Gothic"/>
              </a:defRPr>
            </a:pPr>
            <a:r>
              <a:t>Research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3346704"/>
            <a:ext cx="42976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Century Gothic"/>
              </a:defRPr>
            </a:pPr>
            <a:r>
              <a:t>RQ1: Can the system generate viable schedules?  RQ2: Does agentic behaviour improve schedule quality over a baseline?  RQ3: Can it adapt credibly when tasks or time windows change?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02552" y="4517136"/>
            <a:ext cx="4754880" cy="10058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56832" y="4462272"/>
            <a:ext cx="4754880" cy="1005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03136" y="4626864"/>
            <a:ext cx="91440" cy="676656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608576"/>
            <a:ext cx="43342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Century Gothic"/>
              </a:defRPr>
            </a:pPr>
            <a:r>
              <a:t>Why it is MSc-worthy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495604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Century Gothic"/>
              </a:defRPr>
            </a:pPr>
            <a:r>
              <a:t>The work combines implementation, system integration, debugging, evaluation, and a bounded research claim rather than a simple CRUD application.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entury Gothic"/>
              </a:defRPr>
            </a:pPr>
            <a:r>
              <a:t>Agentic AI for Education  |  MSc Dissertation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223E"/>
                </a:solidFill>
                <a:latin typeface="Century Gothi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377440" cy="237744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8078"/>
                </a:solidFill>
                <a:latin typeface="Century Gothic"/>
              </a:defRPr>
            </a:pPr>
            <a:r>
              <a:t>PROTOTYPE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entury Gothic"/>
              </a:defRPr>
            </a:pPr>
            <a:r>
              <a:t>What was actually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2412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entury Gothic"/>
              </a:defRPr>
            </a:pPr>
            <a:r>
              <a:t>Core features are framed as system contributions, not marketing claims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1627632"/>
            <a:ext cx="2560320" cy="109728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256032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1737360"/>
            <a:ext cx="91440" cy="768096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1719072"/>
            <a:ext cx="21396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Task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066543"/>
            <a:ext cx="2103120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Structured forms, validation, deadline tracking, filterable task views, and offline queue awareness.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7015" y="1627632"/>
            <a:ext cx="2560320" cy="109728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11296" y="1572768"/>
            <a:ext cx="256032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1737360"/>
            <a:ext cx="91440" cy="768096"/>
          </a:xfrm>
          <a:prstGeom prst="rect">
            <a:avLst/>
          </a:prstGeom>
          <a:solidFill>
            <a:srgbClr val="15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1" y="1719072"/>
            <a:ext cx="21396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AI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2066543"/>
            <a:ext cx="2103120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Availability-aware schedule generation with reasoning, conflict visibility, and dynamic replanning triggers.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" y="2907792"/>
            <a:ext cx="2560320" cy="109728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2852928"/>
            <a:ext cx="256032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" y="3017520"/>
            <a:ext cx="91440" cy="7680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2999232"/>
            <a:ext cx="21396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Natural-language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3346704"/>
            <a:ext cx="2103120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Chat commands for task review, task creation, and lightweight assistant guidance inside the prototype.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57015" y="2907792"/>
            <a:ext cx="2560320" cy="109728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11296" y="2852928"/>
            <a:ext cx="256032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0" y="3017520"/>
            <a:ext cx="91440" cy="768096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22191" y="2999232"/>
            <a:ext cx="21396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Hosted reminders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2191" y="3346704"/>
            <a:ext cx="2103120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Supabase Cron invokes an Edge Function that queries due tasks and delivers email through Brevo.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3159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entury Gothic"/>
              </a:defRPr>
            </a:pPr>
            <a:r>
              <a:t>These features matter because they expose agentic behaviour in concrete user-facing workflows.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9944" y="1645920"/>
            <a:ext cx="4572000" cy="25603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ure_use_cas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72768"/>
            <a:ext cx="4572000" cy="25717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19088" y="464515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entury Gothic"/>
              </a:defRPr>
            </a:pPr>
            <a:r>
              <a:t>Use-case coverage keeps the talk grounded in what the system supports, not only how it is implemented.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entury Gothic"/>
              </a:defRPr>
            </a:pPr>
            <a:r>
              <a:t>Agentic AI for Education  |  MSc Dissertation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223E"/>
                </a:solidFill>
                <a:latin typeface="Century Gothi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377440" cy="237744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8078"/>
                </a:solidFill>
                <a:latin typeface="Century Gothic"/>
              </a:defRPr>
            </a:pPr>
            <a:r>
              <a:t>FRONTEND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entury Gothic"/>
              </a:defRPr>
            </a:pPr>
            <a:r>
              <a:t>Prototype UI: task management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2412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entury Gothic"/>
              </a:defRPr>
            </a:pPr>
            <a:r>
              <a:t>Adding interface visuals makes the deck substantially more credible for a dissertation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" y="1627632"/>
            <a:ext cx="7498079" cy="4198924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54480"/>
            <a:ext cx="7498079" cy="421766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31352" y="1682496"/>
            <a:ext cx="2834640" cy="969264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85632" y="1627632"/>
            <a:ext cx="2834640" cy="96926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31936" y="1792224"/>
            <a:ext cx="91440" cy="640080"/>
          </a:xfrm>
          <a:prstGeom prst="rect">
            <a:avLst/>
          </a:prstGeom>
          <a:solidFill>
            <a:srgbClr val="15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1773936"/>
            <a:ext cx="2414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Why keep this slide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2121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Examiners can see that the work is implemented, not only described abstractly.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1352" y="2798064"/>
            <a:ext cx="2834640" cy="107899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85632" y="2743200"/>
            <a:ext cx="2834640" cy="10789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31936" y="2907792"/>
            <a:ext cx="91440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2889504"/>
            <a:ext cx="2414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What the image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3236976"/>
            <a:ext cx="237744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Task creation, filtering, priority cues, conflict surfacing, and user-state indicators.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31352" y="4023359"/>
            <a:ext cx="2834640" cy="11887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85632" y="3968496"/>
            <a:ext cx="2834640" cy="11887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31936" y="4133087"/>
            <a:ext cx="91440" cy="859536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4114800"/>
            <a:ext cx="24140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Presentation tip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46227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Talk through one realistic workflow: create task, inspect priority, then show how the system surfaces a scheduling issue.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entury Gothic"/>
              </a:defRPr>
            </a:pPr>
            <a:r>
              <a:t>Agentic AI for Education  |  MSc Dissertation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223E"/>
                </a:solidFill>
                <a:latin typeface="Century Gothi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377440" cy="237744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8078"/>
                </a:solidFill>
                <a:latin typeface="Century Gothic"/>
              </a:defRPr>
            </a:pPr>
            <a:r>
              <a:t>FRONTEND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entury Gothic"/>
              </a:defRPr>
            </a:pPr>
            <a:r>
              <a:t>Prototype UI: scheduling, reminders and assistant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2412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entury Gothic"/>
              </a:defRPr>
            </a:pPr>
            <a:r>
              <a:t>These screens connect the UI to the dissertation claim about active learner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" y="1664208"/>
            <a:ext cx="5468112" cy="306214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i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91056"/>
            <a:ext cx="5468112" cy="307581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664208"/>
            <a:ext cx="5468112" cy="306214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i_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1591056"/>
            <a:ext cx="5468112" cy="30758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497433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entury Gothic"/>
              </a:defRPr>
            </a:pPr>
            <a:r>
              <a:t>Left: availability-aware schedule generation with reasoning and visible day-by-day slots.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1616" y="497433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entury Gothic"/>
              </a:defRPr>
            </a:pPr>
            <a:r>
              <a:t>Right: reminder dispatch controls, assistant conversation, and offline-safe UX cues.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5468112"/>
            <a:ext cx="3154680" cy="74980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5413248"/>
            <a:ext cx="31546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7552" y="5577840"/>
            <a:ext cx="91440" cy="420623"/>
          </a:xfrm>
          <a:prstGeom prst="rect">
            <a:avLst/>
          </a:prstGeom>
          <a:solidFill>
            <a:srgbClr val="15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5559552"/>
            <a:ext cx="27340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Why it helps in the viva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5907024"/>
            <a:ext cx="269748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entury Gothic"/>
              </a:defRPr>
            </a:pPr>
            <a:r>
              <a:t>It demonstrates that the system supports planning, follow-through, and intervention, not just record-keeping.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3672" y="5468112"/>
            <a:ext cx="3154680" cy="74980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87952" y="5413248"/>
            <a:ext cx="31546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34256" y="5577840"/>
            <a:ext cx="91440" cy="420623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5559552"/>
            <a:ext cx="27340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Bounded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5907024"/>
            <a:ext cx="269748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entury Gothic"/>
              </a:defRPr>
            </a:pPr>
            <a:r>
              <a:t>These are prototype screenshots. The argument is implementation credibility, not production polish.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0376" y="5468112"/>
            <a:ext cx="3154680" cy="74980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34656" y="5413248"/>
            <a:ext cx="315468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0" y="5577840"/>
            <a:ext cx="91440" cy="420623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5559552"/>
            <a:ext cx="27340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Key 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5907024"/>
            <a:ext cx="269748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entury Gothic"/>
              </a:defRPr>
            </a:pPr>
            <a:r>
              <a:t>The frontend operationalises the research idea so the agentic behaviour is visible and testable.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entury Gothic"/>
              </a:defRPr>
            </a:pPr>
            <a:r>
              <a:t>Agentic AI for Education  |  MSc Dissertation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223E"/>
                </a:solidFill>
                <a:latin typeface="Century Gothi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377440" cy="237744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8078"/>
                </a:solidFill>
                <a:latin typeface="Century Gothic"/>
              </a:defRPr>
            </a:pPr>
            <a:r>
              <a:t>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entury Gothic"/>
              </a:defRPr>
            </a:pPr>
            <a:r>
              <a:t>Architecture and integration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2412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entury Gothic"/>
              </a:defRPr>
            </a:pPr>
            <a:r>
              <a:t>Explain the software boundary clearly: client, backend logic, orchestration, and hosted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" y="1700784"/>
            <a:ext cx="6583680" cy="368686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otyp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27632"/>
            <a:ext cx="6583680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08392" y="1792224"/>
            <a:ext cx="3474720" cy="102412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62672" y="1737360"/>
            <a:ext cx="3474720" cy="10241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08976" y="1901952"/>
            <a:ext cx="91440" cy="694944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188366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231136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React PWA manages user interaction, session state, offline queue feedback, and feature tabs.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8392" y="2962656"/>
            <a:ext cx="3474720" cy="102412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62672" y="2907792"/>
            <a:ext cx="3474720" cy="10241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08976" y="3072384"/>
            <a:ext cx="91440" cy="694944"/>
          </a:xfrm>
          <a:prstGeom prst="rect">
            <a:avLst/>
          </a:prstGeom>
          <a:solidFill>
            <a:srgbClr val="15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3054096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40156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Flask routes requests to task operations, schedule generation, evaluation support, and conflict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08392" y="4133087"/>
            <a:ext cx="3474720" cy="102412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62672" y="4078224"/>
            <a:ext cx="3474720" cy="10241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08976" y="4242816"/>
            <a:ext cx="91440" cy="6949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4224528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Hosted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4572000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Supabase stores operational data and executes the deadline-reminder Edge Function on a daily cron.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68112"/>
            <a:ext cx="6400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entury Gothic"/>
              </a:defRPr>
            </a:pPr>
            <a:r>
              <a:t>The architecture slide is stronger when you talk about why each boundary exists, not when you simply list technologies.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entury Gothic"/>
              </a:defRPr>
            </a:pPr>
            <a:r>
              <a:t>Agentic AI for Education  |  MSc Dissertation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223E"/>
                </a:solidFill>
                <a:latin typeface="Century Gothi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377440" cy="237744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8078"/>
                </a:solidFill>
                <a:latin typeface="Century Gothic"/>
              </a:defRPr>
            </a:pPr>
            <a:r>
              <a:t>SYSTEM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entury Gothic"/>
              </a:defRPr>
            </a:pPr>
            <a:r>
              <a:t>Operational workflow and hosted reminder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2412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entury Gothic"/>
              </a:defRPr>
            </a:pPr>
            <a:r>
              <a:t>Two diagrams are enough here: one for request flow and one for proactive intervention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" y="1719072"/>
            <a:ext cx="5285232" cy="2959729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e_reques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45920"/>
            <a:ext cx="5285232" cy="29729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1719072"/>
            <a:ext cx="5285232" cy="2959729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ure_reminder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645920"/>
            <a:ext cx="5285232" cy="29729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4882896"/>
            <a:ext cx="4992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entury Gothic"/>
              </a:defRPr>
            </a:pPr>
            <a:r>
              <a:t>Request workflow: task input, scheduling logic, conflict analysis, and response generation.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4882896"/>
            <a:ext cx="4992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entury Gothic"/>
              </a:defRPr>
            </a:pPr>
            <a:r>
              <a:t>Reminder workflow: Supabase Cron, Edge Function execution, overdue detection, and Brevo delivery.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5394959"/>
            <a:ext cx="10424160" cy="7315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5340096"/>
            <a:ext cx="10424160" cy="7315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7552" y="5504688"/>
            <a:ext cx="91440" cy="402336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5486400"/>
            <a:ext cx="10003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entury Gothic"/>
              </a:defRPr>
            </a:pPr>
            <a:r>
              <a:t>Presentation tip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5833872"/>
            <a:ext cx="99669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entury Gothic"/>
              </a:defRPr>
            </a:pPr>
            <a:r>
              <a:t>Use this slide to show that the reminder capability is not hypothetical. It exists as a hosted path with concrete failure diagnosis and logging.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entury Gothic"/>
              </a:defRPr>
            </a:pPr>
            <a:r>
              <a:t>Agentic AI for Education  |  MSc Dissertation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223E"/>
                </a:solidFill>
                <a:latin typeface="Century Gothi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377440" cy="237744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8078"/>
                </a:solidFill>
                <a:latin typeface="Century Gothic"/>
              </a:defRPr>
            </a:pPr>
            <a: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entury Gothic"/>
              </a:defRPr>
            </a:pPr>
            <a:r>
              <a:t>Evaluation design and scenario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2412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entury Gothic"/>
              </a:defRPr>
            </a:pPr>
            <a:r>
              <a:t>The deck should show a disciplined evaluation method, not only screenshots and architecture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682496"/>
          <a:ext cx="7040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448056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Simulation</a:t>
                      </a:r>
                    </a:p>
                  </a:txBody>
                  <a:tcPr>
                    <a:solidFill>
                      <a:srgbClr val="1222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entury Gothic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222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Standard week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Baseline scheduling quality under ordinary workload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Deadline compression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Behaviour under clustered urgent deadlines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Disruption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Adaptation after time blocks are removed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Dynamic addition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Replanning when urgent new tasks arrive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Five-week project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Century Gothic"/>
                        </a:defRPr>
                      </a:pPr>
                      <a:r>
                        <a:t>Extended workload with visible saturation risk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183880" y="1792224"/>
            <a:ext cx="3017520" cy="98755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017520" cy="9875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84464" y="1901952"/>
            <a:ext cx="91440" cy="658368"/>
          </a:xfrm>
          <a:prstGeom prst="rect">
            <a:avLst/>
          </a:prstGeom>
          <a:solidFill>
            <a:srgbClr val="15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1883664"/>
            <a:ext cx="25968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22311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Generation time, conflict rate, deadline compliance, workload spread, adaptation speed, and efficiency.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944368"/>
            <a:ext cx="3017520" cy="98755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2889504"/>
            <a:ext cx="3017520" cy="9875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84464" y="3054096"/>
            <a:ext cx="91440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3035808"/>
            <a:ext cx="25968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Comparator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A rule-based earliest-deadline-first baseline scheduler provides a defensible reference point.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4096511"/>
            <a:ext cx="3017520" cy="98755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4041648"/>
            <a:ext cx="3017520" cy="9875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4" y="4206240"/>
            <a:ext cx="91440" cy="658368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6" y="4187952"/>
            <a:ext cx="25968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45354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This evaluation design supports a bounded academic claim rather than vague statements about intelligence.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entury Gothic"/>
              </a:defRPr>
            </a:pPr>
            <a:r>
              <a:t>Agentic AI for Education  |  MSc Dissertation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223E"/>
                </a:solidFill>
                <a:latin typeface="Century Gothi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377440" cy="237744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8078"/>
                </a:solidFill>
                <a:latin typeface="Century Gothic"/>
              </a:defRPr>
            </a:pPr>
            <a: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entury Gothic"/>
              </a:defRPr>
            </a:pPr>
            <a:r>
              <a:t>Results and dissertation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2412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entury Gothic"/>
              </a:defRPr>
            </a:pPr>
            <a:r>
              <a:t>The key is to present evidence honestly: gains in some areas, limits in others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8" y="1737360"/>
          <a:ext cx="6217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60920" y="1810512"/>
            <a:ext cx="3913632" cy="89611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1755648"/>
            <a:ext cx="3913632" cy="8961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61504" y="1920240"/>
            <a:ext cx="91440" cy="566928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6096" y="1901952"/>
            <a:ext cx="34930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H1 speed: Not supported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2249424"/>
            <a:ext cx="345643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entury Gothic"/>
              </a:defRPr>
            </a:pPr>
            <a:r>
              <a:t>The agent is slower than the baseline, so the dissertation should not claim raw performance superiority.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834640"/>
            <a:ext cx="3913632" cy="89611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2779776"/>
            <a:ext cx="3913632" cy="8961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61504" y="2944368"/>
            <a:ext cx="91440" cy="566928"/>
          </a:xfrm>
          <a:prstGeom prst="rect">
            <a:avLst/>
          </a:prstGeom>
          <a:solidFill>
            <a:srgbClr val="15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926080"/>
            <a:ext cx="34930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H2 schedule quality: Supported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3273552"/>
            <a:ext cx="345643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entury Gothic"/>
              </a:defRPr>
            </a:pPr>
            <a:r>
              <a:t>Conflict handling improves modestly in the better scenarios, which supports a limited quality claim.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3858768"/>
            <a:ext cx="3913632" cy="89611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3803904"/>
            <a:ext cx="3913632" cy="89611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61504" y="3968496"/>
            <a:ext cx="91440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950208"/>
            <a:ext cx="349300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H3 adaptation: Supported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4297680"/>
            <a:ext cx="3456432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entury Gothic"/>
              </a:defRPr>
            </a:pPr>
            <a:r>
              <a:t>Dynamic-change scenarios provide the most defensible evidence for agentic behaviour.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23036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entury Gothic"/>
              </a:defRPr>
            </a:pPr>
            <a:r>
              <a:t>Scenario A conflict rate: 34.0% baseline vs 31.0%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522976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entury Gothic"/>
              </a:defRPr>
            </a:pPr>
            <a:r>
              <a:t>Scenario D conflict rate: 30.0% baseline vs 28.2%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5248655"/>
            <a:ext cx="6912864" cy="786384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15968" y="5193792"/>
            <a:ext cx="6912864" cy="78638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5358383"/>
            <a:ext cx="91440" cy="45720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5340096"/>
            <a:ext cx="6492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Defensible conclusion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5687568"/>
            <a:ext cx="6455664" cy="16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entury Gothic"/>
              </a:defRPr>
            </a:pPr>
            <a:r>
              <a:t>The prototype demonstrates active learner support, especially for replanning and user-facing intervention. Severe overload remains unresolved, with Scenario E compliance at 18.8%.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entury Gothic"/>
              </a:defRPr>
            </a:pPr>
            <a:r>
              <a:t>Agentic AI for Education  |  MSc Dissertation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223E"/>
                </a:solidFill>
                <a:latin typeface="Century Gothi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486400"/>
            <a:ext cx="2377440" cy="237744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8078"/>
                </a:solidFill>
                <a:latin typeface="Century Gothic"/>
              </a:defRPr>
            </a:pPr>
            <a:r>
              <a:t>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1792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entury Gothic"/>
              </a:defRPr>
            </a:pPr>
            <a:r>
              <a:t>Limitations, critical reflection and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2412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entury Gothic"/>
              </a:defRPr>
            </a:pPr>
            <a:r>
              <a:t>This slide matters because dissertation presentations are judged partly on how honestly they handle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" y="1737360"/>
            <a:ext cx="3337560" cy="11704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1682496"/>
            <a:ext cx="3337560" cy="11704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1847088"/>
            <a:ext cx="91440" cy="841248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28800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Current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76272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The prototype is not a production planner. Scenario E exposes feasibility limits, and reminder logic depends on keeping hosted SQL aligned with intended behaviour.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1416" y="1737360"/>
            <a:ext cx="3337560" cy="11704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25696" y="1682496"/>
            <a:ext cx="3337560" cy="11704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847088"/>
            <a:ext cx="91440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828800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Method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176272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The evaluation is simulation-based. A stronger future study would include real students, perceived usefulness, and sustained usage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8" y="1737360"/>
            <a:ext cx="3337560" cy="1170432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65008" y="1682496"/>
            <a:ext cx="3337560" cy="11704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11312" y="1847088"/>
            <a:ext cx="91440" cy="841248"/>
          </a:xfrm>
          <a:prstGeom prst="rect">
            <a:avLst/>
          </a:prstGeom>
          <a:solidFill>
            <a:srgbClr val="15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1828800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Engineering 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176272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Much of the value lies in integration, debugging, deployment, and test coverage across several moving parts.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328416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entury Gothic"/>
              </a:defRPr>
            </a:pPr>
            <a:r>
              <a:t>• Add task decomposition and workload-feasibility warnings before trying to optimise every scenario.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entury Gothic"/>
              </a:defRPr>
            </a:pPr>
            <a:r>
              <a:t>• Expand observability around reminder dispatch, failure logging, and hosted environment drift.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Century Gothic"/>
              </a:defRPr>
            </a:pPr>
            <a:r>
              <a:t>• Refine interface polish later; the immediate academic value is in demonstrable behaviour and evaluation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" y="5230368"/>
            <a:ext cx="10424160" cy="82296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175504"/>
            <a:ext cx="10424160" cy="822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2" y="5340096"/>
            <a:ext cx="91440" cy="493776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" y="5321808"/>
            <a:ext cx="100035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entury Gothic"/>
              </a:defRPr>
            </a:pPr>
            <a:r>
              <a:t>Why the deck now works better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" y="5669280"/>
            <a:ext cx="996696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It no longer looks like a generic software demo. It now foregrounds research framing, interface evidence, architecture, evaluation, limitations, and a bounded conclusion.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entury Gothic"/>
              </a:defRPr>
            </a:pPr>
            <a:r>
              <a:t>Agentic AI for Education  |  MSc Dissertation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223E"/>
                </a:solidFill>
                <a:latin typeface="Century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548640"/>
            <a:ext cx="3840480" cy="3840480"/>
          </a:xfrm>
          <a:prstGeom prst="ellipse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005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CFBF1"/>
                </a:solidFill>
                <a:latin typeface="Century Gothic"/>
              </a:defRPr>
            </a:pPr>
            <a:r>
              <a:t>Closing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entury Gothic"/>
              </a:defRPr>
            </a:pPr>
            <a:r>
              <a:t>A credible MSc dissertation presentation should show both system substance and critical judgement.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487168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entury Gothic"/>
              </a:defRPr>
            </a:pPr>
            <a:r>
              <a:t>• The project produced a working learner-support prototype with scheduling, adaptation, reminders, and assistant features.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entury Gothic"/>
              </a:defRPr>
            </a:pPr>
            <a:r>
              <a:t>• The evidence is strongest in implementation depth, system integration, and bounded evaluation results.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Century Gothic"/>
              </a:defRPr>
            </a:pPr>
            <a:r>
              <a:t>• The right final claim is not 'perfect planner' but 'implemented and evaluated agentic learner-support system with visible strengths and visible limits'.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975104"/>
            <a:ext cx="4206240" cy="105156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0" y="1920240"/>
            <a:ext cx="420624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21424" y="2084832"/>
            <a:ext cx="91440" cy="7223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6016" y="2066544"/>
            <a:ext cx="37856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Answer to your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2414016"/>
            <a:ext cx="3749039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Before this refresh: not quite. With UI visuals, cleaner structure, Century Gothic body text, and stronger academic framing: much closer to something that can fly.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300984"/>
            <a:ext cx="4206240" cy="96012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3246120"/>
            <a:ext cx="420624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58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21424" y="3410712"/>
            <a:ext cx="91440" cy="630936"/>
          </a:xfrm>
          <a:prstGeom prst="rect">
            <a:avLst/>
          </a:prstGeom>
          <a:solidFill>
            <a:srgbClr val="15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3392424"/>
            <a:ext cx="37856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entury Gothic"/>
              </a:defRPr>
            </a:pPr>
            <a:r>
              <a:t>What to rehearse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3739896"/>
            <a:ext cx="374903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Century Gothic"/>
              </a:defRPr>
            </a:pPr>
            <a:r>
              <a:t>Explain the contribution, then show one UI workflow, one architecture slide, one evaluation slide, and one limitation slide.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760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E7FF"/>
                </a:solidFill>
                <a:latin typeface="Century Gothic"/>
              </a:defRPr>
            </a:pPr>
            <a:r>
              <a:t>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46520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748B"/>
                </a:solidFill>
                <a:latin typeface="Century Gothic"/>
              </a:defRPr>
            </a:pPr>
            <a:r>
              <a:t>Agentic AI for Education  |  MSc Dissertation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2223E"/>
                </a:solidFill>
                <a:latin typeface="Century Gothi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